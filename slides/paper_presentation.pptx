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Perancangan Prototipe Klasifikasi Spam SMS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Naive Bayes vs Logistic Regression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November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Latar belakang &amp; tujuan</a:t>
            </a:r>
          </a:p>
          <a:p>
            <a:pPr lvl="0"/>
            <a:r>
              <a:rPr/>
              <a:t>Dataset &amp; eksplorasi</a:t>
            </a:r>
          </a:p>
          <a:p>
            <a:pPr lvl="0"/>
            <a:r>
              <a:rPr/>
              <a:t>Metodologi &amp; model</a:t>
            </a:r>
          </a:p>
          <a:p>
            <a:pPr lvl="0"/>
            <a:r>
              <a:rPr/>
              <a:t>Pelatihan &amp; evaluasi</a:t>
            </a:r>
          </a:p>
          <a:p>
            <a:pPr lvl="0"/>
            <a:r>
              <a:rPr/>
              <a:t>Hasil &amp; analisis</a:t>
            </a:r>
          </a:p>
          <a:p>
            <a:pPr lvl="0"/>
            <a:r>
              <a:rPr/>
              <a:t>Prototipe &amp; MLOps</a:t>
            </a:r>
          </a:p>
          <a:p>
            <a:pPr lvl="0"/>
            <a:r>
              <a:rPr/>
              <a:t>Kesimpulan &amp; pekerjaan lanjutan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Latar Belakang &amp; 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Spam SMS menimbulkan risiko penipuan dan pengalaman buruk.</a:t>
            </a:r>
          </a:p>
          <a:p>
            <a:pPr lvl="0"/>
            <a:r>
              <a:rPr/>
              <a:t>Tujuan: merancang pipeline end-to-end untuk deteksi spam SMS dan membandingkan MNB vs LR.</a:t>
            </a:r>
          </a:p>
          <a:p>
            <a:pPr lvl="0"/>
            <a:r>
              <a:rPr/>
              <a:t>Kontribusi: pipeline reprodusibel, perbandingan model klasik, prototipe Streamlit &amp; API Flask.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(UCI SMS Spam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Total: 5.572 SMS — 4.825 ham, 747 spam (≈13,41%).</a:t>
            </a:r>
          </a:p>
          <a:p>
            <a:pPr lvl="0"/>
            <a:r>
              <a:rPr/>
              <a:t>Format: TSV dua kolom (label, teks).</a:t>
            </a:r>
          </a:p>
          <a:p>
            <a:pPr lvl="0"/>
            <a:r>
              <a:rPr/>
              <a:t>Karakteristik: teks pendek, bahasa informal, ketidakseimbangan sedang.</a:t>
            </a:r>
          </a:p>
          <a:p>
            <a:pPr lvl="0"/>
            <a:r>
              <a:rPr/>
              <a:t>Rujukan: Almeida et al., 2011 (UCI ML Repository).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EDA: Distribusi Panjang Pesan</a:t>
            </a:r>
          </a:p>
        </p:txBody>
      </p:sp>
      <p:pic>
        <p:nvPicPr>
          <p:cNvPr descr="../artifacts/len_h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Distribusi Panjang Pesan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- Rata-rata token: semua ≈ 15,60; ham ≈ 14,31; spam ≈ 23,91. - Spam cenderung lebih panjang dari ham.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EDA: Top Token Spam</a:t>
            </a:r>
          </a:p>
        </p:txBody>
      </p:sp>
      <p:pic>
        <p:nvPicPr>
          <p:cNvPr descr="../artifacts/top_tokens_sp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Top Token Spam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- Kata pemicu: “free”, “win”, “urgent”, “claim”, “call”, “prize”.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EDA: Top Token Ham</a:t>
            </a:r>
          </a:p>
        </p:txBody>
      </p:sp>
      <p:pic>
        <p:nvPicPr>
          <p:cNvPr descr="../artifacts/top_tokens_h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Top Token Ham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- Ham berisi percakapan sehari-hari, konfirmasi, dan info non-promosi.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Metodologi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Praproses: lowercasing, TF–IDF (unigram–bigram), stopwords Inggris.</a:t>
            </a:r>
          </a:p>
          <a:p>
            <a:pPr lvl="0"/>
            <a:r>
              <a:rPr/>
              <a:t>Model: Multinomial Naive Bayes (MNB) dan Logistic Regression (LR).</a:t>
            </a:r>
          </a:p>
          <a:p>
            <a:pPr lvl="0"/>
            <a:r>
              <a:rPr/>
              <a:t>Validasi: StratifiedKFold k=5; GridSearchCV.</a:t>
            </a:r>
          </a:p>
          <a:p>
            <a:pPr lvl="0"/>
            <a:r>
              <a:rPr/>
              <a:t>Metrik: Accuracy, Precision, Recall, F1, ROC–AUC, PR–AUC.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Model: Multinomial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Cocok untuk fitur frekuensi non-negatif.</a:t>
            </a:r>
          </a:p>
          <a:p>
            <a:pPr lvl="0"/>
            <a:r>
              <a:rPr/>
              <a:t>Hiperparameter utama: alpha (smoothing).</a:t>
            </a:r>
          </a:p>
          <a:p>
            <a:pPr lvl="0"/>
            <a:r>
              <a:rPr/>
              <a:t>Kelebihan: cepat, sederhana, baseline kuat.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Model: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Probabilistik dengan regularisasi L2.</a:t>
            </a:r>
          </a:p>
          <a:p>
            <a:pPr lvl="0"/>
            <a:r>
              <a:rPr/>
              <a:t>Hiperparameter: C, class_weight (menangani imbalance), max_iter.</a:t>
            </a:r>
          </a:p>
          <a:p>
            <a:pPr lvl="0"/>
            <a:r>
              <a:rPr/>
              <a:t>Kelebihan: fleksibel, performa kuat, dapat dikalibrasi.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Pelatihan &amp; Penalaan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Ruang hyperparameter:</a:t>
            </a:r>
          </a:p>
          <a:p>
            <a:pPr lvl="1"/>
            <a:r>
              <a:rPr/>
              <a:t>TF–IDF: ngram (1,1) vs (1,2), min_df {1,2,5}</a:t>
            </a:r>
          </a:p>
          <a:p>
            <a:pPr lvl="1"/>
            <a:r>
              <a:rPr/>
              <a:t>MNB: alpha {0.1, 0.5, 1.0}</a:t>
            </a:r>
          </a:p>
          <a:p>
            <a:pPr lvl="1"/>
            <a:r>
              <a:rPr/>
              <a:t>LR: C {0.5,1,2,4}, L2, class_weight {None, balanced}</a:t>
            </a:r>
          </a:p>
          <a:p>
            <a:pPr lvl="0"/>
            <a:r>
              <a:rPr/>
              <a:t>Skor optimasi: F1 (kelas spam).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Hasil Ringkas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1320800"/>
                <a:gridCol w="1320800"/>
                <a:gridCol w="1320800"/>
                <a:gridCol w="132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Representasi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F1 (makro)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F1 (spam)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MNB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TF–IDF (1–2)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alpha=0.5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TF–IDF (1–2)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C=2.0, L2, balanced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~0.99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LR unggul tipis; MNB sangat kompetitif dan lebih ringan.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Kurva ROC &amp; PR (Contoh LR)</a:t>
            </a:r>
          </a:p>
        </p:txBody>
      </p:sp>
      <p:pic>
        <p:nvPicPr>
          <p:cNvPr descr="../artifacts/roc_lr_t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3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ROC LR Test</a:t>
            </a:r>
          </a:p>
        </p:txBody>
      </p:sp>
      <p:pic>
        <p:nvPicPr>
          <p:cNvPr descr="../artifacts/pr_lr_te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46400" y="1193800"/>
            <a:ext cx="323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 LR Test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Analisis Kesalahan &amp;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False positive: pesan promosi sah dengan kata mirip spam.</a:t>
            </a:r>
          </a:p>
          <a:p>
            <a:pPr lvl="0"/>
            <a:r>
              <a:rPr/>
              <a:t>False negative: obfuscation (“GR4T1S”), URL pendek, bahasa campuran. CM Test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Prototipe &amp; Integrasi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Streamlit: input teks, probabilitas, pengaturan threshold.</a:t>
            </a:r>
          </a:p>
          <a:p>
            <a:pPr lvl="0"/>
            <a:r>
              <a:rPr/>
              <a:t>Flask API: endpoint /predict untuk integrasi sistem.</a:t>
            </a:r>
          </a:p>
          <a:p>
            <a:pPr lvl="0"/>
            <a:r>
              <a:rPr/>
              <a:t>Inferensi cepat, footprint kecil — cocok untuk edge.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MLOps &amp; Keamanan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Monitoring: skor, drift, keluhan pengguna.</a:t>
            </a:r>
          </a:p>
          <a:p>
            <a:pPr lvl="0"/>
            <a:r>
              <a:rPr/>
              <a:t>Kalibrasi &amp; thresholding berbasis biaya.</a:t>
            </a:r>
          </a:p>
          <a:p>
            <a:pPr lvl="0"/>
            <a:r>
              <a:rPr/>
              <a:t>Privasi: minimisasi data, enkripsi, retensi terbatas.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Kesimpulan &amp; Pekerjaan Lanjutan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Pipeline TF–IDF + LR/MNB efektif dan ringan.</a:t>
            </a:r>
          </a:p>
          <a:p>
            <a:pPr lvl="0"/>
            <a:r>
              <a:rPr/>
              <a:t>LR sedikit unggul; MNB cocok sebagai baseline cepat.</a:t>
            </a:r>
          </a:p>
          <a:p>
            <a:pPr lvl="0"/>
            <a:r>
              <a:rPr/>
              <a:t>Lanjutan: fitur karakter, normalisasi ejaan, active learning, dan studi banding model transformer ringan.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Perancangan Prototipe Klasifikasi Spam SMS</dc:title>
  <dc:creator>Naive Bayes vs Logistic Regression</dc:creator>
  <cp:keywords/>
  <dcterms:created xsi:type="dcterms:W3CDTF">2025-11-06T13:04:55Z</dcterms:created>
  <dcterms:modified xsi:type="dcterms:W3CDTF">2025-11-06T13:04:55Z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</Properties>
</file>